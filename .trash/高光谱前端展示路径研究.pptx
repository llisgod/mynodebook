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0" r:id="rId8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高光谱</a:t>
            </a:r>
            <a:r>
              <a:rPr lang="zh-CN" altLang="en-US"/>
              <a:t>是什么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2000"/>
              <a:t>高光谱图像（</a:t>
            </a:r>
            <a:r>
              <a:rPr lang="en-US" altLang="zh-CN" sz="2000"/>
              <a:t>Hyperspectral Image, HSI</a:t>
            </a:r>
            <a:r>
              <a:rPr lang="zh-CN" altLang="en-US" sz="2000"/>
              <a:t>）是一种包含大量连续、狭窄光谱波段的图像数据。与普通</a:t>
            </a:r>
            <a:r>
              <a:rPr lang="en-US" altLang="zh-CN" sz="2000"/>
              <a:t>RGB</a:t>
            </a:r>
            <a:r>
              <a:rPr lang="zh-CN" altLang="en-US" sz="2000"/>
              <a:t>图像（仅</a:t>
            </a:r>
            <a:r>
              <a:rPr lang="en-US" altLang="zh-CN" sz="2000"/>
              <a:t>3</a:t>
            </a:r>
            <a:r>
              <a:rPr lang="zh-CN" altLang="en-US" sz="2000"/>
              <a:t>个波段：红、绿、蓝）或多光谱图像（通常少于</a:t>
            </a:r>
            <a:r>
              <a:rPr lang="en-US" altLang="zh-CN" sz="2000"/>
              <a:t>10</a:t>
            </a:r>
            <a:r>
              <a:rPr lang="zh-CN" altLang="en-US" sz="2000"/>
              <a:t>个离散波段）不同，高光谱图像可以包含数百个波段，覆盖从可见光到红外（甚至更宽）的连续光谱范围。</a:t>
            </a:r>
            <a:endParaRPr lang="zh-CN" altLang="en-US" sz="2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258435" cy="4307840"/>
          </a:xfrm>
        </p:spPr>
        <p:txBody>
          <a:bodyPr>
            <a:normAutofit fontScale="50000"/>
          </a:bodyPr>
          <a:p>
            <a:r>
              <a:rPr lang="zh-CN" altLang="en-US"/>
              <a:t>核心特点：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高光谱分辨率：</a:t>
            </a:r>
            <a:r>
              <a:rPr lang="en-US" altLang="zh-CN"/>
              <a:t> </a:t>
            </a:r>
            <a:r>
              <a:rPr lang="zh-CN" altLang="en-US"/>
              <a:t>每个波段非常窄（通常在</a:t>
            </a:r>
            <a:r>
              <a:rPr lang="en-US" altLang="zh-CN"/>
              <a:t>10</a:t>
            </a:r>
            <a:r>
              <a:rPr lang="zh-CN" altLang="en-US"/>
              <a:t>纳米或更窄），能精细地捕捉物质的光谱特征。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连续光谱：</a:t>
            </a:r>
            <a:r>
              <a:rPr lang="en-US" altLang="zh-CN"/>
              <a:t> </a:t>
            </a:r>
            <a:r>
              <a:rPr lang="zh-CN" altLang="en-US"/>
              <a:t>波段密集且连续，形成每个像素点的近乎连续的光谱曲线（光谱签名）。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数据立方体：</a:t>
            </a:r>
            <a:r>
              <a:rPr lang="en-US" altLang="zh-CN"/>
              <a:t> </a:t>
            </a:r>
            <a:r>
              <a:rPr lang="zh-CN" altLang="en-US"/>
              <a:t>数据通常组织成一个三维立方体（</a:t>
            </a:r>
            <a:r>
              <a:rPr lang="en-US" altLang="zh-CN"/>
              <a:t>X, Y, λ</a:t>
            </a:r>
            <a:r>
              <a:rPr lang="zh-CN" altLang="en-US"/>
              <a:t>）：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X, Y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空间维度（图像的行和列）。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λ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光谱维度（波段）。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格式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4305"/>
            <a:ext cx="5835015" cy="4752975"/>
          </a:xfrm>
        </p:spPr>
        <p:txBody>
          <a:bodyPr>
            <a:normAutofit fontScale="50000"/>
          </a:bodyPr>
          <a:p>
            <a:r>
              <a:rPr lang="zh-CN" altLang="en-US" sz="4000" b="1"/>
              <a:t>专业</a:t>
            </a:r>
            <a:r>
              <a:rPr lang="en-US" altLang="zh-CN" sz="4000" b="1"/>
              <a:t>/</a:t>
            </a:r>
            <a:r>
              <a:rPr lang="zh-CN" altLang="en-US" sz="4000" b="1"/>
              <a:t>科学格式</a:t>
            </a:r>
            <a:r>
              <a:rPr lang="en-US" altLang="zh-CN" sz="4000" b="1"/>
              <a:t> (</a:t>
            </a:r>
            <a:r>
              <a:rPr lang="zh-CN" altLang="en-US" sz="4000" b="1"/>
              <a:t>通常包含元数据</a:t>
            </a:r>
            <a:r>
              <a:rPr lang="en-US" altLang="zh-CN" sz="4000" b="1"/>
              <a:t>)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 altLang="zh-CN"/>
              <a:t>ENVI .dat / .hdr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最广泛使用的格式之一。</a:t>
            </a:r>
            <a:r>
              <a:rPr lang="en-US" altLang="zh-CN"/>
              <a:t>.dat</a:t>
            </a:r>
            <a:r>
              <a:rPr lang="zh-CN" altLang="en-US"/>
              <a:t>文件存储原始二进制数据（波段交错方式</a:t>
            </a:r>
            <a:r>
              <a:rPr lang="en-US" altLang="zh-CN"/>
              <a:t>BSQ, BIL, BIP</a:t>
            </a:r>
            <a:r>
              <a:rPr lang="zh-CN" altLang="en-US"/>
              <a:t>），</a:t>
            </a:r>
            <a:r>
              <a:rPr lang="en-US" altLang="zh-CN"/>
              <a:t>.hdr</a:t>
            </a:r>
            <a:r>
              <a:rPr lang="zh-CN" altLang="en-US"/>
              <a:t>文件是纯文本头文件，包含关键信息（尺寸、波段数、波长、数据类型、地图信息等）。</a:t>
            </a:r>
            <a:endParaRPr lang="en-US" altLang="zh-CN"/>
          </a:p>
          <a:p>
            <a:r>
              <a:rPr lang="en-US" altLang="zh-CN"/>
              <a:t>GeoTIFF (.tif)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标准栅格格式，可以通过内部标签存储多波段数据和地理信息。常用于存储处理后的高光谱数据或子集。可能需要多层</a:t>
            </a:r>
            <a:r>
              <a:rPr lang="en-US" altLang="zh-CN"/>
              <a:t>TIFF</a:t>
            </a:r>
            <a:r>
              <a:rPr lang="zh-CN" altLang="en-US"/>
              <a:t>或特定标签处理数百个波段。</a:t>
            </a:r>
            <a:endParaRPr lang="en-US" altLang="zh-CN"/>
          </a:p>
          <a:p>
            <a:r>
              <a:rPr lang="en-US" altLang="zh-CN"/>
              <a:t>HDF / HDF5 (.hdf, .h5)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灵活的科学数据格式，能高效存储大型多维数据集及其元数据（波长、坐标系等）。</a:t>
            </a:r>
            <a:r>
              <a:rPr lang="en-US" altLang="zh-CN"/>
              <a:t>NASA</a:t>
            </a:r>
            <a:r>
              <a:rPr lang="zh-CN" altLang="en-US"/>
              <a:t>的很多任务（如</a:t>
            </a:r>
            <a:r>
              <a:rPr lang="en-US" altLang="zh-CN"/>
              <a:t>AVIRIS, Hyperion</a:t>
            </a:r>
            <a:r>
              <a:rPr lang="zh-CN" altLang="en-US"/>
              <a:t>）使用此格式。</a:t>
            </a:r>
            <a:endParaRPr lang="en-US" altLang="zh-CN"/>
          </a:p>
          <a:p>
            <a:r>
              <a:rPr lang="en-US" altLang="zh-CN"/>
              <a:t>NetCDF (.nc)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另一种流行的科学数据格式，常用于气候和海洋数据，也适用于高光谱数据，支持元数据和多维数组。</a:t>
            </a:r>
            <a:endParaRPr lang="en-US" altLang="zh-CN"/>
          </a:p>
          <a:p>
            <a:r>
              <a:rPr lang="zh-CN" altLang="en-US"/>
              <a:t>特定传感器格式：</a:t>
            </a:r>
            <a:r>
              <a:rPr lang="en-US" altLang="zh-CN"/>
              <a:t> </a:t>
            </a:r>
            <a:r>
              <a:rPr lang="zh-CN" altLang="en-US"/>
              <a:t>如</a:t>
            </a:r>
            <a:r>
              <a:rPr lang="en-US" altLang="zh-CN"/>
              <a:t>AVIRIS (.img/.ige), Hyperion (.L1R), PRISMA, </a:t>
            </a:r>
            <a:r>
              <a:rPr lang="zh-CN" altLang="en-US"/>
              <a:t>等。这些通常需要特定工具或可转换为上述通用格式。</a:t>
            </a:r>
            <a:endParaRPr lang="zh-CN" altLang="en-US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08470" y="1365885"/>
            <a:ext cx="4737100" cy="3449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/>
              <a:t>通用图像格式</a:t>
            </a:r>
            <a:r>
              <a:rPr lang="en-US" altLang="zh-CN" b="1"/>
              <a:t> (</a:t>
            </a:r>
            <a:r>
              <a:rPr lang="zh-CN" altLang="en-US" b="1"/>
              <a:t>较少用于原始数据，多用于可视化结果</a:t>
            </a:r>
            <a:r>
              <a:rPr lang="en-US" altLang="zh-CN" b="1"/>
              <a:t>)</a:t>
            </a:r>
            <a:r>
              <a:rPr lang="zh-CN" altLang="en-US" b="1"/>
              <a:t>：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b="1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带索引的</a:t>
            </a:r>
            <a:r>
              <a:rPr lang="en-US" altLang="zh-CN"/>
              <a:t>PNG/JPEG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存储伪彩色合成结果。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多页</a:t>
            </a:r>
            <a:r>
              <a:rPr lang="en-US" altLang="zh-CN"/>
              <a:t>TIFF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可以将每个波段存储为一页，但管理大量波段和元数据较麻烦。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1335"/>
              <a:t>使用专门软件（如</a:t>
            </a:r>
            <a:r>
              <a:rPr lang="en-US" altLang="zh-CN" sz="1335"/>
              <a:t>ENVI</a:t>
            </a:r>
            <a:r>
              <a:rPr lang="zh-CN" altLang="en-US" sz="1335"/>
              <a:t>）可以交互式地浏览数据立方体：在二维图像上移动光标，实时查看该位置的光谱曲线；或者沿光谱维度</a:t>
            </a:r>
            <a:r>
              <a:rPr lang="en-US" altLang="zh-CN" sz="1335"/>
              <a:t>“</a:t>
            </a:r>
            <a:r>
              <a:rPr lang="zh-CN" altLang="en-US" sz="1335"/>
              <a:t>滑动</a:t>
            </a:r>
            <a:r>
              <a:rPr lang="en-US" altLang="zh-CN" sz="1335"/>
              <a:t>”</a:t>
            </a:r>
            <a:r>
              <a:rPr lang="zh-CN" altLang="en-US" sz="1335"/>
              <a:t>查看不同波段的图像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4" name="内容占位符 3" descr="1e1adc7e61608159fdcbd0dd2da32d5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45845" y="1825625"/>
            <a:ext cx="4366895" cy="4351655"/>
          </a:xfrm>
          <a:prstGeom prst="rect">
            <a:avLst/>
          </a:prstGeom>
        </p:spPr>
      </p:pic>
      <p:pic>
        <p:nvPicPr>
          <p:cNvPr id="5" name="图片 4" descr="PixPin_2025-06-16_23-08-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275" y="1944370"/>
            <a:ext cx="5645150" cy="42329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eb5415054083e7357c4b75514b299ccf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1535" y="842645"/>
            <a:ext cx="7924800" cy="175260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851535" y="3089275"/>
            <a:ext cx="52197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394835" cy="923290"/>
          </a:xfrm>
        </p:spPr>
        <p:txBody>
          <a:bodyPr/>
          <a:p>
            <a:r>
              <a:rPr lang="zh-CN" altLang="en-US"/>
              <a:t>可视化</a:t>
            </a:r>
            <a:r>
              <a:rPr lang="zh-CN" altLang="en-US"/>
              <a:t>处理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985260" cy="4351655"/>
          </a:xfrm>
        </p:spPr>
        <p:txBody>
          <a:bodyPr>
            <a:normAutofit/>
          </a:bodyPr>
          <a:p>
            <a:r>
              <a:rPr lang="zh-CN" altLang="en-US" sz="2000"/>
              <a:t>单波段灰度图：</a:t>
            </a:r>
            <a:endParaRPr lang="zh-CN" altLang="en-US" sz="2000"/>
          </a:p>
          <a:p>
            <a:endParaRPr lang="en-US" altLang="zh-CN" sz="2000"/>
          </a:p>
          <a:p>
            <a:r>
              <a:rPr lang="zh-CN" altLang="en-US" sz="2000"/>
              <a:t>最简单的方法。选择一个波段，将其灰度值映射到显示范围（</a:t>
            </a:r>
            <a:r>
              <a:rPr lang="en-US" altLang="zh-CN" sz="2000"/>
              <a:t>0-255</a:t>
            </a:r>
            <a:r>
              <a:rPr lang="zh-CN" altLang="en-US" sz="2000"/>
              <a:t>）。</a:t>
            </a:r>
            <a:endParaRPr lang="zh-CN" altLang="en-US" sz="2000"/>
          </a:p>
          <a:p>
            <a:endParaRPr lang="en-US" altLang="zh-CN" sz="2000"/>
          </a:p>
          <a:p>
            <a:r>
              <a:rPr lang="zh-CN" altLang="en-US" sz="2000"/>
              <a:t>用于检查特定波段（如近红外波段看植被活力）或数据质量（噪声）。</a:t>
            </a:r>
            <a:endParaRPr lang="zh-CN" altLang="en-US" sz="2000"/>
          </a:p>
          <a:p>
            <a:endParaRPr lang="en-US" altLang="zh-CN" sz="2000"/>
          </a:p>
          <a:p>
            <a:r>
              <a:rPr lang="zh-CN" altLang="en-US" sz="2000"/>
              <a:t>需要知道所选波段对应的波长。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5440045" y="542925"/>
            <a:ext cx="6206490" cy="5794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伪彩色合成：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核心可视化方法。</a:t>
            </a:r>
            <a:r>
              <a:rPr lang="en-US" altLang="zh-CN"/>
              <a:t> </a:t>
            </a:r>
            <a:r>
              <a:rPr lang="zh-CN" altLang="en-US"/>
              <a:t>选择三个波段，分别赋予红、绿、蓝颜色通道进行显示。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关键在于波段选择：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真彩色合成：</a:t>
            </a:r>
            <a:r>
              <a:rPr lang="en-US" altLang="zh-CN"/>
              <a:t> </a:t>
            </a:r>
            <a:r>
              <a:rPr lang="zh-CN" altLang="en-US"/>
              <a:t>选择对应红、绿、蓝波段的三个波段（如</a:t>
            </a:r>
            <a:r>
              <a:rPr lang="en-US" altLang="zh-CN"/>
              <a:t> ~650nm, ~550nm, ~450nm</a:t>
            </a:r>
            <a:r>
              <a:rPr lang="zh-CN" altLang="en-US"/>
              <a:t>）。看起来像普通照片。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假彩色合成：</a:t>
            </a:r>
            <a:r>
              <a:rPr lang="en-US" altLang="zh-CN"/>
              <a:t> </a:t>
            </a:r>
            <a:r>
              <a:rPr lang="zh-CN" altLang="en-US"/>
              <a:t>选择非可见光波段或组合以突出特定地物。最常见！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经典假彩色：近红外波段（如</a:t>
            </a:r>
            <a:r>
              <a:rPr lang="en-US" altLang="zh-CN"/>
              <a:t> ~800nm</a:t>
            </a:r>
            <a:r>
              <a:rPr lang="zh-CN" altLang="en-US"/>
              <a:t>）</a:t>
            </a:r>
            <a:r>
              <a:rPr lang="en-US" altLang="zh-CN"/>
              <a:t>-&gt; </a:t>
            </a:r>
            <a:r>
              <a:rPr lang="zh-CN" altLang="en-US"/>
              <a:t>红，</a:t>
            </a:r>
            <a:r>
              <a:rPr lang="en-US" altLang="zh-CN"/>
              <a:t> </a:t>
            </a:r>
            <a:r>
              <a:rPr lang="zh-CN" altLang="en-US"/>
              <a:t>红光波段（</a:t>
            </a:r>
            <a:r>
              <a:rPr lang="en-US" altLang="zh-CN"/>
              <a:t>~650nm</a:t>
            </a:r>
            <a:r>
              <a:rPr lang="zh-CN" altLang="en-US"/>
              <a:t>）</a:t>
            </a:r>
            <a:r>
              <a:rPr lang="en-US" altLang="zh-CN"/>
              <a:t>-&gt; </a:t>
            </a:r>
            <a:r>
              <a:rPr lang="zh-CN" altLang="en-US"/>
              <a:t>绿，</a:t>
            </a:r>
            <a:r>
              <a:rPr lang="en-US" altLang="zh-CN"/>
              <a:t> </a:t>
            </a:r>
            <a:r>
              <a:rPr lang="zh-CN" altLang="en-US"/>
              <a:t>绿光波段（</a:t>
            </a:r>
            <a:r>
              <a:rPr lang="en-US" altLang="zh-CN"/>
              <a:t>~550nm</a:t>
            </a:r>
            <a:r>
              <a:rPr lang="zh-CN" altLang="en-US"/>
              <a:t>）</a:t>
            </a:r>
            <a:r>
              <a:rPr lang="en-US" altLang="zh-CN"/>
              <a:t>-&gt; </a:t>
            </a:r>
            <a:r>
              <a:rPr lang="zh-CN" altLang="en-US"/>
              <a:t>蓝。健康植被呈现亮红色（因为其强反射近红外光），水体深蓝</a:t>
            </a:r>
            <a:r>
              <a:rPr lang="en-US" altLang="zh-CN"/>
              <a:t>/</a:t>
            </a:r>
            <a:r>
              <a:rPr lang="zh-CN" altLang="en-US"/>
              <a:t>黑，裸土呈棕色</a:t>
            </a:r>
            <a:r>
              <a:rPr lang="en-US" altLang="zh-CN"/>
              <a:t>/</a:t>
            </a:r>
            <a:r>
              <a:rPr lang="zh-CN" altLang="en-US"/>
              <a:t>青色。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其他组合：例如，用短波红外波段（如</a:t>
            </a:r>
            <a:r>
              <a:rPr lang="en-US" altLang="zh-CN"/>
              <a:t> ~1650nm, ~2200nm</a:t>
            </a:r>
            <a:r>
              <a:rPr lang="zh-CN" altLang="en-US"/>
              <a:t>）组合可以突出矿物、岩石类型或水分含量。用特定吸收特征两侧的波段可以增强显示该特征。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endParaRPr lang="zh-CN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1298</Words>
  <Application>WPS 演示</Application>
  <PresentationFormat>宽屏</PresentationFormat>
  <Paragraphs>61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WPS</vt:lpstr>
      <vt:lpstr>高光谱是什么</vt:lpstr>
      <vt:lpstr>高光谱图像（Hyperspectral Image, HSI）是一种包含大量连续、狭窄光谱波段的图像数据。与普通RGB图像（仅3个波段：红、绿、蓝）或多光谱图像（通常少于10个离散波段）不同，高光谱图像可以包含数百个波段，覆盖从可见光到红外（甚至更宽）的连续光谱范围。</vt:lpstr>
      <vt:lpstr>格式</vt:lpstr>
      <vt:lpstr>使用专门软件（如ENVI）可以交互式地浏览数据立方体：在二维图像上移动光标，实时查看该位置的光谱曲线；或者沿光谱维度“滑动”查看不同波段的图像。</vt:lpstr>
      <vt:lpstr>PowerPoint 演示文稿</vt:lpstr>
      <vt:lpstr>可视化处理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吕良</dc:creator>
  <cp:lastModifiedBy>吕良</cp:lastModifiedBy>
  <cp:revision>3</cp:revision>
  <dcterms:created xsi:type="dcterms:W3CDTF">2023-08-09T12:44:00Z</dcterms:created>
  <dcterms:modified xsi:type="dcterms:W3CDTF">2025-06-16T17:30:01Z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36B53876968C48188F8DB8DA1A88F389_12</vt:lpwstr>
  </property>
</Properties>
</file>